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sz="2600" b="0">
                <a:latin typeface="Arial"/>
              </a:rPr>
              <a:t>Problem Statement ID – SIH1608</a:t>
            </a:r>
          </a:p>
          <a:p>
            <a:pPr/>
            <a:r>
              <a:rPr sz="2600" b="0">
                <a:latin typeface="Arial"/>
              </a:rPr>
              <a:t>Problem Statement Title – Create an Innovation Ecosystem Platform</a:t>
            </a:r>
          </a:p>
          <a:p>
            <a:pPr/>
            <a:r>
              <a:rPr sz="2600" b="0">
                <a:latin typeface="Arial"/>
              </a:rPr>
              <a:t>Theme – Miscellaneous</a:t>
            </a:r>
          </a:p>
          <a:p>
            <a:pPr/>
            <a:r>
              <a:rPr sz="2600" b="0">
                <a:latin typeface="Arial"/>
              </a:rPr>
              <a:t>PS Category – Software</a:t>
            </a:r>
          </a:p>
          <a:p>
            <a:pPr/>
            <a:r>
              <a:rPr sz="2600" b="0">
                <a:latin typeface="Arial"/>
              </a:rPr>
              <a:t>Team ID – [As Per Portal]</a:t>
            </a:r>
          </a:p>
          <a:p>
            <a:pPr/>
            <a:r>
              <a:rPr sz="2600" b="0">
                <a:latin typeface="Arial"/>
              </a:rPr>
              <a:t>Team Name – [TEAM NAME] (Registered on Portal)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 wrap="square"/>
          <a:lstStyle/>
          <a:p>
            <a:pPr/>
            <a:r>
              <a:rPr sz="4000" b="1">
                <a:latin typeface="Arial"/>
              </a:rPr>
              <a:t>UdaanSetu</a:t>
            </a:r>
          </a:p>
          <a:p>
            <a:pPr/>
            <a:r>
              <a:rPr sz="2400" b="0">
                <a:latin typeface="Arial"/>
              </a:rPr>
              <a:t>Bridge to Flight — Research to Impact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38350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/>
            <a:r>
              <a:rPr sz="2200" b="1">
                <a:latin typeface="Arial"/>
              </a:rPr>
              <a:t>Proposed Solution (Describe your Idea/Solution/Prototype)</a:t>
            </a:r>
          </a:p>
          <a:p>
            <a:pPr/>
            <a:r>
              <a:rPr sz="1600" b="1">
                <a:latin typeface="Arial"/>
              </a:rPr>
              <a:t>Detailed explanation of the proposed solution</a:t>
            </a:r>
          </a:p>
          <a:p>
            <a:pPr/>
            <a:r>
              <a:rPr sz="1600" b="0">
                <a:latin typeface="Arial"/>
              </a:rPr>
              <a:t>• Unified innovation-ecosystem platform guiding each project end-to-end: research → patent → mentorship → funding → incubation → startup → impact.</a:t>
            </a:r>
          </a:p>
          <a:p>
            <a:pPr/>
            <a:r>
              <a:rPr sz="1600" b="0">
                <a:latin typeface="Arial"/>
              </a:rPr>
              <a:t>• Role-based dashboards for Researchers, Mentors, Investors, Incubators &amp; Admins.</a:t>
            </a:r>
          </a:p>
          <a:p>
            <a:pPr/>
            <a:r>
              <a:rPr sz="1600" b="0">
                <a:latin typeface="Arial"/>
              </a:rPr>
              <a:t>• ML-driven risk prediction, semantic duplicate detection and smart matching.</a:t>
            </a:r>
          </a:p>
          <a:p>
            <a:pPr/>
            <a:r>
              <a:rPr sz="1600" b="0">
                <a:latin typeface="Arial"/>
              </a:rPr>
              <a:t>• Government integrations: Aadhaar eKYC, DigiLocker, Startup India, IP India, ONDC.</a:t>
            </a:r>
          </a:p>
          <a:p>
            <a:pPr/>
            <a:r>
              <a:rPr sz="1600" b="1">
                <a:latin typeface="Arial"/>
              </a:rPr>
              <a:t>How it addresses the problem</a:t>
            </a:r>
          </a:p>
          <a:p>
            <a:pPr/>
            <a:r>
              <a:rPr sz="1600" b="0">
                <a:latin typeface="Arial"/>
              </a:rPr>
              <a:t>• Removes fragmentation: every stakeholder operates on one living pipeline.</a:t>
            </a:r>
          </a:p>
          <a:p>
            <a:pPr/>
            <a:r>
              <a:rPr sz="1600" b="0">
                <a:latin typeface="Arial"/>
              </a:rPr>
              <a:t>• Makes schemes, mentors and funding visible to the right innovator automatically.</a:t>
            </a:r>
          </a:p>
          <a:p>
            <a:pPr/>
            <a:r>
              <a:rPr sz="1600" b="0">
                <a:latin typeface="Arial"/>
              </a:rPr>
              <a:t>• Transparent IPR tracking with audit trails for all ecosystem actors.</a:t>
            </a:r>
          </a:p>
          <a:p>
            <a:pPr/>
            <a:r>
              <a:rPr sz="1600" b="1">
                <a:latin typeface="Arial"/>
              </a:rPr>
              <a:t>Innovation and uniqueness of the solution</a:t>
            </a:r>
          </a:p>
          <a:p>
            <a:pPr/>
            <a:r>
              <a:rPr sz="1600" b="0">
                <a:latin typeface="Arial"/>
              </a:rPr>
              <a:t>• Complete lab-to-market lifecycle on a single platform (first of its kind).</a:t>
            </a:r>
          </a:p>
          <a:p>
            <a:pPr/>
            <a:r>
              <a:rPr sz="1600" b="0">
                <a:latin typeface="Arial"/>
              </a:rPr>
              <a:t>• Explainable AI risk scoring + retraining on real data.</a:t>
            </a:r>
          </a:p>
          <a:p>
            <a:pPr/>
            <a:r>
              <a:rPr sz="1600" b="0">
                <a:latin typeface="Arial"/>
              </a:rPr>
              <a:t>• Production-grade: 60+ REST APIs, Dockerized, 190+ automated tests, security-first.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/>
            <a:r>
              <a:rPr sz="2000" b="1">
                <a:latin typeface="Arial"/>
              </a:rPr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36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/>
            <a:r>
              <a:rPr sz="2000" b="1">
                <a:latin typeface="Arial"/>
              </a:rPr>
              <a:t>Technologies to be used</a:t>
            </a:r>
          </a:p>
          <a:p>
            <a:pPr/>
            <a:r>
              <a:rPr sz="1500" b="0">
                <a:latin typeface="Arial"/>
              </a:rPr>
              <a:t>• Frontend: Next.js 15 · React 19 · TypeScript · accessible design system (WCAG 2.1 AA)</a:t>
            </a:r>
          </a:p>
          <a:p>
            <a:pPr/>
            <a:r>
              <a:rPr sz="1500" b="0">
                <a:latin typeface="Arial"/>
              </a:rPr>
              <a:t>• Backend: FastAPI · Python · SQLAlchemy 2 · Pydantic v2 · Uvicorn</a:t>
            </a:r>
          </a:p>
          <a:p>
            <a:pPr/>
            <a:r>
              <a:rPr sz="1500" b="0">
                <a:latin typeface="Arial"/>
              </a:rPr>
              <a:t>• Database: PostgreSQL + Redis cache (in-memory fallback)</a:t>
            </a:r>
          </a:p>
          <a:p>
            <a:pPr/>
            <a:r>
              <a:rPr sz="1500" b="0">
                <a:latin typeface="Arial"/>
              </a:rPr>
              <a:t>• AI/ML: scikit-learn (GBM, clustering) · sentence-transformers embeddings</a:t>
            </a:r>
          </a:p>
          <a:p>
            <a:pPr/>
            <a:r>
              <a:rPr sz="1500" b="0">
                <a:latin typeface="Arial"/>
              </a:rPr>
              <a:t>• Security: JWT · Argon2 · RBAC · rate limiting · audit log</a:t>
            </a:r>
          </a:p>
          <a:p>
            <a:pPr/>
            <a:r>
              <a:rPr sz="1500" b="0">
                <a:latin typeface="Arial"/>
              </a:rPr>
              <a:t>• Infra: Docker Compose · health checks · CI-ready test suites</a:t>
            </a:r>
          </a:p>
          <a:p>
            <a:pPr/>
            <a:r>
              <a:rPr sz="2000" b="1">
                <a:latin typeface="Arial"/>
              </a:rPr>
              <a:t>Methodology and process for implementation</a:t>
            </a:r>
          </a:p>
          <a:p>
            <a:pPr/>
            <a:r>
              <a:rPr sz="1500" b="0">
                <a:latin typeface="Arial"/>
              </a:rPr>
              <a:t>• Lifecycle model: Research → Innovation → IPR → Mentor/Funding/Incubator → Startup → Impact</a:t>
            </a:r>
          </a:p>
          <a:p>
            <a:pPr/>
            <a:r>
              <a:rPr sz="1500" b="0">
                <a:latin typeface="Arial"/>
              </a:rPr>
              <a:t>• Agile sprints; iterative demos; milestone-driven delivery.</a:t>
            </a:r>
          </a:p>
          <a:p>
            <a:pPr/>
            <a:r>
              <a:rPr sz="1500" b="0">
                <a:latin typeface="Arial"/>
              </a:rPr>
              <a:t>• Working prototype: 60+ REST endpoints, live dashboards, Docker Compose full-stack demo.</a:t>
            </a:r>
          </a:p>
          <a:p>
            <a:pPr/>
            <a:r>
              <a:rPr sz="1500" b="0">
                <a:latin typeface="Arial"/>
              </a:rPr>
              <a:t>• ML pipeline: feature extraction → training → registry → serving → retrain on real data.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/>
            <a:r>
              <a:rPr sz="2000" b="1">
                <a:latin typeface="Arial"/>
              </a:rPr>
              <a:t>[TEAM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36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/>
            <a:r>
              <a:rPr sz="1800" b="1">
                <a:latin typeface="Arial"/>
              </a:rPr>
              <a:t>Analysis of the feasibility of the idea</a:t>
            </a:r>
          </a:p>
          <a:p>
            <a:pPr/>
            <a:r>
              <a:rPr sz="1400" b="0">
                <a:latin typeface="Arial"/>
              </a:rPr>
              <a:t>• Leverages existing govt infrastructure: Aadhaar, DigiLocker, Startup India, IP India, ONDC APIs.</a:t>
            </a:r>
          </a:p>
          <a:p>
            <a:pPr/>
            <a:r>
              <a:rPr sz="1400" b="0">
                <a:latin typeface="Arial"/>
              </a:rPr>
              <a:t>• Technically viable: proven, mature stack; scalable cloud deployment.</a:t>
            </a:r>
          </a:p>
          <a:p>
            <a:pPr/>
            <a:r>
              <a:rPr sz="1400" b="0">
                <a:latin typeface="Arial"/>
              </a:rPr>
              <a:t>• Strong demand: fragmented innovation ecosystem across Indian institutes &amp; districts.</a:t>
            </a:r>
          </a:p>
          <a:p>
            <a:pPr/>
            <a:r>
              <a:rPr sz="1400" b="0">
                <a:latin typeface="Arial"/>
              </a:rPr>
              <a:t>• Operationally viable: demo-ready with realistic seeded data (127 projects).</a:t>
            </a:r>
          </a:p>
          <a:p>
            <a:pPr/>
            <a:r>
              <a:rPr sz="1800" b="1">
                <a:latin typeface="Arial"/>
              </a:rPr>
              <a:t>Potential challenges and risks</a:t>
            </a:r>
          </a:p>
          <a:p>
            <a:pPr/>
            <a:r>
              <a:rPr sz="1400" b="0">
                <a:latin typeface="Arial"/>
              </a:rPr>
              <a:t>• Data privacy &amp; consent for government data.</a:t>
            </a:r>
          </a:p>
          <a:p>
            <a:pPr/>
            <a:r>
              <a:rPr sz="1400" b="0">
                <a:latin typeface="Arial"/>
              </a:rPr>
              <a:t>• Adoption across institutes and government departments.</a:t>
            </a:r>
          </a:p>
          <a:p>
            <a:pPr/>
            <a:r>
              <a:rPr sz="1400" b="0">
                <a:latin typeface="Arial"/>
              </a:rPr>
              <a:t>• Model quality on sparse early-stage data.</a:t>
            </a:r>
          </a:p>
          <a:p>
            <a:pPr/>
            <a:r>
              <a:rPr sz="1800" b="1">
                <a:latin typeface="Arial"/>
              </a:rPr>
              <a:t>Strategies for overcoming these challenges</a:t>
            </a:r>
          </a:p>
          <a:p>
            <a:pPr/>
            <a:r>
              <a:rPr sz="1400" b="0">
                <a:latin typeface="Arial"/>
              </a:rPr>
              <a:t>• RBAC, audit logs and consent-first data design.</a:t>
            </a:r>
          </a:p>
          <a:p>
            <a:pPr/>
            <a:r>
              <a:rPr sz="1400" b="0">
                <a:latin typeface="Arial"/>
              </a:rPr>
              <a:t>• Institute onboarding, training &amp; multilingual-friendly UI.</a:t>
            </a:r>
          </a:p>
          <a:p>
            <a:pPr/>
            <a:r>
              <a:rPr sz="1400" b="0">
                <a:latin typeface="Arial"/>
              </a:rPr>
              <a:t>• Synthetic-data fallback + retraining on real records when samples grow.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/>
            <a:r>
              <a:rPr sz="2000" b="1">
                <a:latin typeface="Arial"/>
              </a:rPr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336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/>
            <a:r>
              <a:rPr sz="1800" b="1">
                <a:latin typeface="Arial"/>
              </a:rPr>
              <a:t>Potential impact on the target audience</a:t>
            </a:r>
          </a:p>
          <a:p>
            <a:pPr/>
            <a:r>
              <a:rPr sz="1400" b="0">
                <a:latin typeface="Arial"/>
              </a:rPr>
              <a:t>• Researchers: guided, measurable path from paper to product.</a:t>
            </a:r>
          </a:p>
          <a:p>
            <a:pPr/>
            <a:r>
              <a:rPr sz="1400" b="0">
                <a:latin typeface="Arial"/>
              </a:rPr>
              <a:t>• Innovators/Startups: automatic access to mentors, schemes and funding.</a:t>
            </a:r>
          </a:p>
          <a:p>
            <a:pPr/>
            <a:r>
              <a:rPr sz="1400" b="0">
                <a:latin typeface="Arial"/>
              </a:rPr>
              <a:t>• Investors/Incubators: visible, risk-scored pipeline to pick winners.</a:t>
            </a:r>
          </a:p>
          <a:p>
            <a:pPr/>
            <a:r>
              <a:rPr sz="1400" b="0">
                <a:latin typeface="Arial"/>
              </a:rPr>
              <a:t>• Government: real-time transparency across the national innovation pipeline.</a:t>
            </a:r>
          </a:p>
          <a:p>
            <a:pPr/>
            <a:r>
              <a:rPr sz="1800" b="1">
                <a:latin typeface="Arial"/>
              </a:rPr>
              <a:t>Benefits of the solution (social, economic, environmental)</a:t>
            </a:r>
          </a:p>
          <a:p>
            <a:pPr/>
            <a:r>
              <a:rPr sz="1400" b="0">
                <a:latin typeface="Arial"/>
              </a:rPr>
              <a:t>• Social: democratizes innovation access across districts and demographics.</a:t>
            </a:r>
          </a:p>
          <a:p>
            <a:pPr/>
            <a:r>
              <a:rPr sz="1400" b="0">
                <a:latin typeface="Arial"/>
              </a:rPr>
              <a:t>• Economic: shortens lab-to-market time (3–5 yrs → months), creates startups &amp; jobs.</a:t>
            </a:r>
          </a:p>
          <a:p>
            <a:pPr/>
            <a:r>
              <a:rPr sz="1400" b="0">
                <a:latin typeface="Arial"/>
              </a:rPr>
              <a:t>• Environmental: paperless IPR and scheme workflows reduce administrative waste.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/>
            <a:r>
              <a:rPr sz="2000" b="1">
                <a:latin typeface="Arial"/>
              </a:rPr>
              <a:t>[TEAM NAME]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3104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/>
            <a:r>
              <a:rPr sz="1600" b="0">
                <a:latin typeface="Arial"/>
              </a:rPr>
              <a:t>• India publishes 50,000+ research papers/year; fewer than 500 become startups.</a:t>
            </a:r>
          </a:p>
          <a:p>
            <a:pPr/>
            <a:r>
              <a:rPr sz="1600" b="0">
                <a:latin typeface="Arial"/>
              </a:rPr>
              <a:t>• NITI Aayog – Innovation &amp; Entrepreneurship ecosystem reports.</a:t>
            </a:r>
          </a:p>
          <a:p>
            <a:pPr/>
            <a:r>
              <a:rPr sz="1600" b="0">
                <a:latin typeface="Arial"/>
              </a:rPr>
              <a:t>• Startup India / DPIIT startup policy and scheme documentation.</a:t>
            </a:r>
          </a:p>
          <a:p>
            <a:pPr/>
            <a:r>
              <a:rPr sz="1600" b="0">
                <a:latin typeface="Arial"/>
              </a:rPr>
              <a:t>• AICTE / MoE Innovation Cell – Smart India Hackathon 2026 guidelines.</a:t>
            </a:r>
          </a:p>
          <a:p>
            <a:pPr/>
            <a:r>
              <a:rPr sz="1600" b="0">
                <a:latin typeface="Arial"/>
              </a:rPr>
              <a:t>• Technology-transfer and innovation-ecosystem academic literature.</a:t>
            </a:r>
          </a:p>
          <a:p>
            <a:pPr/>
            <a:r>
              <a:rPr sz="1600" b="0">
                <a:latin typeface="Arial"/>
              </a:rPr>
              <a:t>• Live demo &amp; repository: github.com/rudrakhairnar16-bit/UdaanSetu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 wrap="square"/>
          <a:lstStyle/>
          <a:p>
            <a:pPr/>
            <a:r>
              <a:rPr sz="2000" b="1">
                <a:latin typeface="Arial"/>
              </a:rPr>
              <a:t>[TEAM NAME]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